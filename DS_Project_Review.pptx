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60" r:id="rId9"/>
    <p:sldId id="904" r:id="rId10"/>
    <p:sldId id="90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082AB5-EBA5-4914-9DA1-2E6E3F091390}" v="14" dt="2026-10-01T05:19:41.0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TANNERU" userId="0657bc66d5872c2e" providerId="LiveId" clId="{A305FAE5-D065-467C-965C-4D7E2561D754}"/>
    <pc:docChg chg="undo redo custSel addSld delSld modSld">
      <pc:chgData name="NANDINI TANNERU" userId="0657bc66d5872c2e" providerId="LiveId" clId="{A305FAE5-D065-467C-965C-4D7E2561D754}" dt="2026-10-01T05:19:58.575" v="85" actId="1076"/>
      <pc:docMkLst>
        <pc:docMk/>
      </pc:docMkLst>
      <pc:sldChg chg="modSp mod">
        <pc:chgData name="NANDINI TANNERU" userId="0657bc66d5872c2e" providerId="LiveId" clId="{A305FAE5-D065-467C-965C-4D7E2561D754}" dt="2026-09-24T06:02:27.083" v="80" actId="1076"/>
        <pc:sldMkLst>
          <pc:docMk/>
          <pc:sldMk cId="1843937772" sldId="257"/>
        </pc:sldMkLst>
        <pc:spChg chg="mod">
          <ac:chgData name="NANDINI TANNERU" userId="0657bc66d5872c2e" providerId="LiveId" clId="{A305FAE5-D065-467C-965C-4D7E2561D754}" dt="2026-09-24T06:02:27.083" v="80" actId="1076"/>
          <ac:spMkLst>
            <pc:docMk/>
            <pc:sldMk cId="1843937772" sldId="257"/>
            <ac:spMk id="4" creationId="{0853F2E2-3551-3578-6C9F-74A8A9411D2B}"/>
          </ac:spMkLst>
        </pc:spChg>
      </pc:sldChg>
      <pc:sldChg chg="modSp mod">
        <pc:chgData name="NANDINI TANNERU" userId="0657bc66d5872c2e" providerId="LiveId" clId="{A305FAE5-D065-467C-965C-4D7E2561D754}" dt="2026-09-24T05:48:21.233" v="79" actId="1076"/>
        <pc:sldMkLst>
          <pc:docMk/>
          <pc:sldMk cId="2065876014" sldId="258"/>
        </pc:sldMkLst>
        <pc:spChg chg="mod">
          <ac:chgData name="NANDINI TANNERU" userId="0657bc66d5872c2e" providerId="LiveId" clId="{A305FAE5-D065-467C-965C-4D7E2561D754}" dt="2026-09-24T05:48:21.233" v="79" actId="1076"/>
          <ac:spMkLst>
            <pc:docMk/>
            <pc:sldMk cId="2065876014" sldId="258"/>
            <ac:spMk id="5" creationId="{C00062CA-E93E-DFB0-5A22-1412AB9A6752}"/>
          </ac:spMkLst>
        </pc:spChg>
      </pc:sldChg>
      <pc:sldChg chg="addSp delSp modSp mod">
        <pc:chgData name="NANDINI TANNERU" userId="0657bc66d5872c2e" providerId="LiveId" clId="{A305FAE5-D065-467C-965C-4D7E2561D754}" dt="2026-09-24T05:36:50.501" v="42"/>
        <pc:sldMkLst>
          <pc:docMk/>
          <pc:sldMk cId="4118855268" sldId="260"/>
        </pc:sldMkLst>
        <pc:picChg chg="add">
          <ac:chgData name="NANDINI TANNERU" userId="0657bc66d5872c2e" providerId="LiveId" clId="{A305FAE5-D065-467C-965C-4D7E2561D754}" dt="2026-09-24T05:36:44.272" v="39" actId="22"/>
          <ac:picMkLst>
            <pc:docMk/>
            <pc:sldMk cId="4118855268" sldId="260"/>
            <ac:picMk id="6" creationId="{6DEFE8F7-5550-8F94-7A16-9954455BB78C}"/>
          </ac:picMkLst>
        </pc:picChg>
        <pc:picChg chg="add">
          <ac:chgData name="NANDINI TANNERU" userId="0657bc66d5872c2e" providerId="LiveId" clId="{A305FAE5-D065-467C-965C-4D7E2561D754}" dt="2026-09-24T05:36:45.379" v="40" actId="22"/>
          <ac:picMkLst>
            <pc:docMk/>
            <pc:sldMk cId="4118855268" sldId="260"/>
            <ac:picMk id="8" creationId="{7A662E3E-3B0D-AB1B-23AA-55F05664BA81}"/>
          </ac:picMkLst>
        </pc:picChg>
      </pc:sldChg>
      <pc:sldChg chg="modSp mod">
        <pc:chgData name="NANDINI TANNERU" userId="0657bc66d5872c2e" providerId="LiveId" clId="{A305FAE5-D065-467C-965C-4D7E2561D754}" dt="2026-09-11T03:17:32.074" v="25" actId="1076"/>
        <pc:sldMkLst>
          <pc:docMk/>
          <pc:sldMk cId="2247602601" sldId="262"/>
        </pc:sldMkLst>
        <pc:spChg chg="mod">
          <ac:chgData name="NANDINI TANNERU" userId="0657bc66d5872c2e" providerId="LiveId" clId="{A305FAE5-D065-467C-965C-4D7E2561D754}" dt="2026-09-11T03:17:32.074" v="25" actId="1076"/>
          <ac:spMkLst>
            <pc:docMk/>
            <pc:sldMk cId="2247602601" sldId="262"/>
            <ac:spMk id="3" creationId="{0E115B1B-9A71-D5C6-C248-7CD8D5EA4FB7}"/>
          </ac:spMkLst>
        </pc:spChg>
        <pc:spChg chg="mod">
          <ac:chgData name="NANDINI TANNERU" userId="0657bc66d5872c2e" providerId="LiveId" clId="{A305FAE5-D065-467C-965C-4D7E2561D754}" dt="2026-09-11T03:17:27.144" v="24" actId="1076"/>
          <ac:spMkLst>
            <pc:docMk/>
            <pc:sldMk cId="2247602601" sldId="262"/>
            <ac:spMk id="4" creationId="{4EE5F681-D3B5-BC4B-8AA4-5688DCEEFB44}"/>
          </ac:spMkLst>
        </pc:spChg>
        <pc:spChg chg="mod">
          <ac:chgData name="NANDINI TANNERU" userId="0657bc66d5872c2e" providerId="LiveId" clId="{A305FAE5-D065-467C-965C-4D7E2561D754}" dt="2026-09-11T03:17:24.607" v="23" actId="1076"/>
          <ac:spMkLst>
            <pc:docMk/>
            <pc:sldMk cId="2247602601" sldId="262"/>
            <ac:spMk id="17" creationId="{D25BC1A0-FDE4-1557-375E-6E0BD69BC77B}"/>
          </ac:spMkLst>
        </pc:spChg>
        <pc:graphicFrameChg chg="modGraphic">
          <ac:chgData name="NANDINI TANNERU" userId="0657bc66d5872c2e" providerId="LiveId" clId="{A305FAE5-D065-467C-965C-4D7E2561D754}" dt="2026-09-11T02:58:22.354" v="8" actId="313"/>
          <ac:graphicFrameMkLst>
            <pc:docMk/>
            <pc:sldMk cId="2247602601" sldId="262"/>
            <ac:graphicFrameMk id="18" creationId="{BD22BC4D-4857-7D81-7819-37B7BB426420}"/>
          </ac:graphicFrameMkLst>
        </pc:graphicFrameChg>
        <pc:graphicFrameChg chg="modGraphic">
          <ac:chgData name="NANDINI TANNERU" userId="0657bc66d5872c2e" providerId="LiveId" clId="{A305FAE5-D065-467C-965C-4D7E2561D754}" dt="2026-09-11T03:16:25.036" v="20" actId="20577"/>
          <ac:graphicFrameMkLst>
            <pc:docMk/>
            <pc:sldMk cId="2247602601" sldId="262"/>
            <ac:graphicFrameMk id="30" creationId="{9091FADF-77DB-CB1D-CD72-56C53CF76308}"/>
          </ac:graphicFrameMkLst>
        </pc:graphicFrameChg>
      </pc:sldChg>
      <pc:sldChg chg="delSp mod">
        <pc:chgData name="NANDINI TANNERU" userId="0657bc66d5872c2e" providerId="LiveId" clId="{A305FAE5-D065-467C-965C-4D7E2561D754}" dt="2026-09-11T02:58:55.973" v="10" actId="21"/>
        <pc:sldMkLst>
          <pc:docMk/>
          <pc:sldMk cId="2747969496" sldId="707"/>
        </pc:sldMkLst>
      </pc:sldChg>
      <pc:sldChg chg="addSp delSp modSp mod">
        <pc:chgData name="NANDINI TANNERU" userId="0657bc66d5872c2e" providerId="LiveId" clId="{A305FAE5-D065-467C-965C-4D7E2561D754}" dt="2026-10-01T05:19:58.575" v="85" actId="1076"/>
        <pc:sldMkLst>
          <pc:docMk/>
          <pc:sldMk cId="3029277067" sldId="902"/>
        </pc:sldMkLst>
        <pc:graphicFrameChg chg="mod modGraphic">
          <ac:chgData name="NANDINI TANNERU" userId="0657bc66d5872c2e" providerId="LiveId" clId="{A305FAE5-D065-467C-965C-4D7E2561D754}" dt="2026-10-01T05:19:58.575" v="85" actId="1076"/>
          <ac:graphicFrameMkLst>
            <pc:docMk/>
            <pc:sldMk cId="3029277067" sldId="902"/>
            <ac:graphicFrameMk id="4" creationId="{AACD11AD-3AF5-B626-2B60-0567E4585BB7}"/>
          </ac:graphicFrameMkLst>
        </pc:graphicFrameChg>
      </pc:sldChg>
      <pc:sldChg chg="modSp mod">
        <pc:chgData name="NANDINI TANNERU" userId="0657bc66d5872c2e" providerId="LiveId" clId="{A305FAE5-D065-467C-965C-4D7E2561D754}" dt="2026-09-24T05:46:59.891" v="78" actId="403"/>
        <pc:sldMkLst>
          <pc:docMk/>
          <pc:sldMk cId="3917782940" sldId="903"/>
        </pc:sldMkLst>
        <pc:spChg chg="mod">
          <ac:chgData name="NANDINI TANNERU" userId="0657bc66d5872c2e" providerId="LiveId" clId="{A305FAE5-D065-467C-965C-4D7E2561D754}" dt="2026-09-24T05:46:59.891" v="78" actId="403"/>
          <ac:spMkLst>
            <pc:docMk/>
            <pc:sldMk cId="3917782940" sldId="903"/>
            <ac:spMk id="5" creationId="{7F508849-A0DD-12D4-FD0D-5322CA138B2F}"/>
          </ac:spMkLst>
        </pc:spChg>
      </pc:sldChg>
      <pc:sldChg chg="addSp delSp modSp mod">
        <pc:chgData name="NANDINI TANNERU" userId="0657bc66d5872c2e" providerId="LiveId" clId="{A305FAE5-D065-467C-965C-4D7E2561D754}" dt="2026-09-11T03:00:11.696" v="19"/>
        <pc:sldMkLst>
          <pc:docMk/>
          <pc:sldMk cId="3693226503" sldId="904"/>
        </pc:sldMkLst>
        <pc:graphicFrameChg chg="add mod">
          <ac:chgData name="NANDINI TANNERU" userId="0657bc66d5872c2e" providerId="LiveId" clId="{A305FAE5-D065-467C-965C-4D7E2561D754}" dt="2026-09-11T03:00:11.696" v="19"/>
          <ac:graphicFrameMkLst>
            <pc:docMk/>
            <pc:sldMk cId="3693226503" sldId="904"/>
            <ac:graphicFrameMk id="5" creationId="{8AFF3C49-8065-4654-50F1-C1AB461EF0F2}"/>
          </ac:graphicFrameMkLst>
        </pc:graphicFrameChg>
      </pc:sldChg>
      <pc:sldChg chg="add">
        <pc:chgData name="NANDINI TANNERU" userId="0657bc66d5872c2e" providerId="LiveId" clId="{A305FAE5-D065-467C-965C-4D7E2561D754}" dt="2026-09-24T05:42:26.225" v="75"/>
        <pc:sldMkLst>
          <pc:docMk/>
          <pc:sldMk cId="3034119939" sldId="90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dirty="0"/>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dirty="0"/>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 October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 October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 October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 October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 October 2026</a:t>
            </a:fld>
            <a:endParaRPr lang="en-IN" dirty="0"/>
          </a:p>
        </p:txBody>
      </p:sp>
      <p:sp>
        <p:nvSpPr>
          <p:cNvPr id="8" name="Footer Placeholder 7"/>
          <p:cNvSpPr>
            <a:spLocks noGrp="1"/>
          </p:cNvSpPr>
          <p:nvPr>
            <p:ph type="ftr" sz="quarter" idx="11"/>
          </p:nvPr>
        </p:nvSpPr>
        <p:spPr/>
        <p:txBody>
          <a:bodyPr/>
          <a:lstStyle/>
          <a:p>
            <a:r>
              <a:rPr lang="en-IN" dirty="0"/>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 October 2026</a:t>
            </a:fld>
            <a:endParaRPr lang="en-IN" dirty="0"/>
          </a:p>
        </p:txBody>
      </p:sp>
      <p:sp>
        <p:nvSpPr>
          <p:cNvPr id="4" name="Footer Placeholder 3"/>
          <p:cNvSpPr>
            <a:spLocks noGrp="1"/>
          </p:cNvSpPr>
          <p:nvPr>
            <p:ph type="ftr" sz="quarter" idx="11"/>
          </p:nvPr>
        </p:nvSpPr>
        <p:spPr/>
        <p:txBody>
          <a:bodyPr/>
          <a:lstStyle/>
          <a:p>
            <a:r>
              <a:rPr lang="en-IN" dirty="0"/>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 October 2026</a:t>
            </a:fld>
            <a:endParaRPr lang="en-IN" dirty="0"/>
          </a:p>
        </p:txBody>
      </p:sp>
      <p:sp>
        <p:nvSpPr>
          <p:cNvPr id="3" name="Footer Placeholder 2"/>
          <p:cNvSpPr>
            <a:spLocks noGrp="1"/>
          </p:cNvSpPr>
          <p:nvPr>
            <p:ph type="ftr" sz="quarter" idx="11"/>
          </p:nvPr>
        </p:nvSpPr>
        <p:spPr/>
        <p:txBody>
          <a:bodyPr/>
          <a:lstStyle/>
          <a:p>
            <a:r>
              <a:rPr lang="en-IN" dirty="0"/>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 October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 October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 October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 October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dirty="0"/>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 October 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dirty="0"/>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ieeexplore.ieee.org/document/9655792/?utm_source=chatgpt.com" TargetMode="External"/><Relationship Id="rId7" Type="http://schemas.openxmlformats.org/officeDocument/2006/relationships/hyperlink" Target="https://www.nature.com/articles/s41598-025-30108-z?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nature.com/articles/s41598-024-63750-0?utm_source=chatgpt.com" TargetMode="External"/><Relationship Id="rId5" Type="http://schemas.openxmlformats.org/officeDocument/2006/relationships/hyperlink" Target="https://journals.plos.org/plosone/article?id=10.1371%2Fjournal.pone.0292466&amp;utm_source=chatgpt.com" TargetMode="External"/><Relationship Id="rId4" Type="http://schemas.openxmlformats.org/officeDocument/2006/relationships/hyperlink" Target="https://www.sciencedirect.com/science/article/pii/S187705092202138X?utm_source=chatgpt.co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1415772"/>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a:p>
            <a:pPr algn="ctr"/>
            <a:r>
              <a:rPr lang="en-IN" sz="2000" b="1" dirty="0">
                <a:solidFill>
                  <a:srgbClr val="FF0000"/>
                </a:solidFill>
                <a:latin typeface="Times New Roman" panose="02020603050405020304" pitchFamily="18" charset="0"/>
                <a:cs typeface="Times New Roman" panose="02020603050405020304" pitchFamily="18" charset="0"/>
              </a:rPr>
              <a:t>11-09-2026</a:t>
            </a:r>
          </a:p>
          <a:p>
            <a:pPr algn="ctr"/>
            <a:r>
              <a:rPr lang="en-IN" sz="2000" b="1" dirty="0">
                <a:solidFill>
                  <a:srgbClr val="FF0000"/>
                </a:solidFill>
                <a:latin typeface="Times New Roman" panose="02020603050405020304" pitchFamily="18" charset="0"/>
                <a:cs typeface="Times New Roman" panose="02020603050405020304" pitchFamily="18" charset="0"/>
              </a:rPr>
              <a:t>8:15-9:50AM</a:t>
            </a:r>
          </a:p>
          <a:p>
            <a:pPr algn="ct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526414952"/>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Name:T.Nandini,B.Hasini,G.Saranya</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Number:2420030325,324,071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17698143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Dr.N.Sunanda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738187" y="1629428"/>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88193" y="248077"/>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Project Review-2</a:t>
            </a:r>
          </a:p>
        </p:txBody>
      </p:sp>
      <p:sp>
        <p:nvSpPr>
          <p:cNvPr id="3" name="TextBox 2">
            <a:extLst>
              <a:ext uri="{FF2B5EF4-FFF2-40B4-BE49-F238E27FC236}">
                <a16:creationId xmlns:a16="http://schemas.microsoft.com/office/drawing/2014/main" id="{0E115B1B-9A71-D5C6-C248-7CD8D5EA4FB7}"/>
              </a:ext>
            </a:extLst>
          </p:cNvPr>
          <p:cNvSpPr txBox="1"/>
          <p:nvPr/>
        </p:nvSpPr>
        <p:spPr>
          <a:xfrm>
            <a:off x="938212" y="1776121"/>
            <a:ext cx="10715625" cy="523220"/>
          </a:xfrm>
          <a:prstGeom prst="rect">
            <a:avLst/>
          </a:prstGeom>
          <a:noFill/>
        </p:spPr>
        <p:txBody>
          <a:bodyPr wrap="square">
            <a:spAutoFit/>
          </a:bodyPr>
          <a:lstStyle/>
          <a:p>
            <a:pPr lvl="0" algn="ctr">
              <a:defRPr/>
            </a:pPr>
            <a:r>
              <a:rPr lang="en-IN" sz="2800" dirty="0">
                <a:solidFill>
                  <a:schemeClr val="bg1">
                    <a:lumMod val="95000"/>
                  </a:schemeClr>
                </a:solidFill>
                <a:latin typeface="Times New Roman" panose="02020603050405020304" pitchFamily="18" charset="0"/>
                <a:cs typeface="Times New Roman" panose="02020603050405020304" pitchFamily="18" charset="0"/>
              </a:rPr>
              <a:t>Customer Churn Prediction and Analytics Using Machine Learning</a:t>
            </a:r>
            <a:endParaRPr kumimoji="0" lang="en-US" sz="2800" b="0" i="0" u="none" strike="noStrike" kern="1200" cap="none" spc="0" normalizeH="0" baseline="0" noProof="0" dirty="0">
              <a:ln>
                <a:noFill/>
              </a:ln>
              <a:solidFill>
                <a:schemeClr val="bg1">
                  <a:lumMod val="95000"/>
                </a:schemeClr>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618271"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9875754" y="0"/>
            <a:ext cx="1942620" cy="622550"/>
          </a:xfrm>
          <a:prstGeom prst="rect">
            <a:avLst/>
          </a:prstGeom>
        </p:spPr>
      </p:pic>
      <p:sp>
        <p:nvSpPr>
          <p:cNvPr id="4" name="TextBox 3">
            <a:extLst>
              <a:ext uri="{FF2B5EF4-FFF2-40B4-BE49-F238E27FC236}">
                <a16:creationId xmlns:a16="http://schemas.microsoft.com/office/drawing/2014/main" id="{0853F2E2-3551-3578-6C9F-74A8A9411D2B}"/>
              </a:ext>
            </a:extLst>
          </p:cNvPr>
          <p:cNvSpPr txBox="1"/>
          <p:nvPr/>
        </p:nvSpPr>
        <p:spPr>
          <a:xfrm>
            <a:off x="914400" y="1315173"/>
            <a:ext cx="9502128" cy="4480073"/>
          </a:xfrm>
          <a:prstGeom prst="rect">
            <a:avLst/>
          </a:prstGeom>
          <a:noFill/>
        </p:spPr>
        <p:txBody>
          <a:bodyPr wrap="square">
            <a:spAutoFit/>
          </a:bodyPr>
          <a:lstStyle/>
          <a:p>
            <a:pPr>
              <a:lnSpc>
                <a:spcPct val="150000"/>
              </a:lnSpc>
              <a:buNone/>
            </a:pPr>
            <a:r>
              <a:rPr lang="en-IN" sz="1600" dirty="0">
                <a:latin typeface="Times New Roman" panose="02020603050405020304" pitchFamily="18" charset="0"/>
                <a:cs typeface="Times New Roman" panose="02020603050405020304" pitchFamily="18" charset="0"/>
              </a:rPr>
              <a:t>Customer churn is a major challenge for businesses because losing customers can reduce revenue and increase the cost of acquiring new customers. Companies often have large amounts of customer data, but it can be difficult to identify which customers are likely to leave.</a:t>
            </a:r>
          </a:p>
          <a:p>
            <a:pPr>
              <a:lnSpc>
                <a:spcPct val="150000"/>
              </a:lnSpc>
              <a:buNone/>
            </a:pPr>
            <a:r>
              <a:rPr lang="en-IN" sz="1600" dirty="0">
                <a:latin typeface="Times New Roman" panose="02020603050405020304" pitchFamily="18" charset="0"/>
                <a:cs typeface="Times New Roman" panose="02020603050405020304" pitchFamily="18" charset="0"/>
              </a:rPr>
              <a:t>The proposed project, </a:t>
            </a:r>
            <a:r>
              <a:rPr lang="en-IN" sz="1600" b="1" dirty="0">
                <a:latin typeface="Times New Roman" panose="02020603050405020304" pitchFamily="18" charset="0"/>
                <a:cs typeface="Times New Roman" panose="02020603050405020304" pitchFamily="18" charset="0"/>
              </a:rPr>
              <a:t>“Customer Churn Prediction and Analytics Using Machine Learning,”</a:t>
            </a:r>
            <a:r>
              <a:rPr lang="en-IN" sz="1600" dirty="0">
                <a:latin typeface="Times New Roman" panose="02020603050405020304" pitchFamily="18" charset="0"/>
                <a:cs typeface="Times New Roman" panose="02020603050405020304" pitchFamily="18" charset="0"/>
              </a:rPr>
              <a:t> aims to analyze customer information such as tenure, contract type, monthly charges, payment method, customer support interactions, and satisfaction levels to identify patterns related to customer churn.</a:t>
            </a:r>
          </a:p>
          <a:p>
            <a:pPr>
              <a:lnSpc>
                <a:spcPct val="150000"/>
              </a:lnSpc>
              <a:buNone/>
            </a:pPr>
            <a:r>
              <a:rPr lang="en-IN" sz="1600" dirty="0">
                <a:latin typeface="Times New Roman" panose="02020603050405020304" pitchFamily="18" charset="0"/>
                <a:cs typeface="Times New Roman" panose="02020603050405020304" pitchFamily="18" charset="0"/>
              </a:rPr>
              <a:t>Machine Learning algorithms will be used to predict whether a customer is likely to </a:t>
            </a:r>
            <a:r>
              <a:rPr lang="en-IN" sz="1600" b="1" dirty="0">
                <a:latin typeface="Times New Roman" panose="02020603050405020304" pitchFamily="18" charset="0"/>
                <a:cs typeface="Times New Roman" panose="02020603050405020304" pitchFamily="18" charset="0"/>
              </a:rPr>
              <a:t>churn or stay</a:t>
            </a:r>
            <a:r>
              <a:rPr lang="en-IN" sz="1600" dirty="0">
                <a:latin typeface="Times New Roman" panose="02020603050405020304" pitchFamily="18" charset="0"/>
                <a:cs typeface="Times New Roman" panose="02020603050405020304" pitchFamily="18" charset="0"/>
              </a:rPr>
              <a:t>. The project will also analyze the major factors contributing to churn and classify customers based on their churn risk. These insights can help businesses take early actions such as providing personalized offers, improving customer service, and retaining high-risk customers.</a:t>
            </a:r>
          </a:p>
          <a:p>
            <a:pPr>
              <a:lnSpc>
                <a:spcPct val="150000"/>
              </a:lnSpc>
              <a:buNone/>
            </a:pPr>
            <a:r>
              <a:rPr lang="en-IN" sz="1600" dirty="0">
                <a:latin typeface="Times New Roman" panose="02020603050405020304" pitchFamily="18" charset="0"/>
                <a:cs typeface="Times New Roman" panose="02020603050405020304" pitchFamily="18" charset="0"/>
              </a:rPr>
              <a:t>The main goal is to develop a data-driven system that helps organizations </a:t>
            </a:r>
            <a:r>
              <a:rPr lang="en-IN" sz="1600" b="1" dirty="0">
                <a:latin typeface="Times New Roman" panose="02020603050405020304" pitchFamily="18" charset="0"/>
                <a:cs typeface="Times New Roman" panose="02020603050405020304" pitchFamily="18" charset="0"/>
              </a:rPr>
              <a:t>predict customer churn, understand its causes, and improve customer retention</a:t>
            </a:r>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332311"/>
          </a:xfrm>
          <a:prstGeom prst="rect">
            <a:avLst/>
          </a:prstGeom>
          <a:noFill/>
        </p:spPr>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Objective</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Collect Customer Data</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collect customer data to understand their behavior.</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Clean the Data</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clean and prepare the data for analysis.</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Find Churn Factors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identify the main reasons why customers leave.</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Build ML Models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we build Machine Learning models to predict customer churn.</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Evaluate Models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compare the models using performance metrics.</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Identify High-Risk Customers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identify customers who have a high chance of leaving.</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Improve Customer Retention</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Provide suggestions to help the company retain customers.</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Reduce Customer Loss</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Our goal is to reduce customer loss and improve business performance.</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Support Better Decisions</a:t>
            </a:r>
          </a:p>
          <a:p>
            <a:pPr marL="171450" indent="-1714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results help the company make better decisio</a:t>
            </a:r>
            <a:r>
              <a:rPr lang="en-US" sz="1200" b="1" dirty="0">
                <a:latin typeface="Times New Roman" panose="02020603050405020304" pitchFamily="18" charset="0"/>
                <a:cs typeface="Times New Roman" panose="02020603050405020304" pitchFamily="18" charset="0"/>
              </a:rPr>
              <a:t>ns.</a:t>
            </a:r>
            <a:endParaRPr lang="en-IN" sz="1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4238712"/>
              </p:ext>
            </p:extLst>
          </p:nvPr>
        </p:nvGraphicFramePr>
        <p:xfrm>
          <a:off x="1199536" y="502077"/>
          <a:ext cx="10255047" cy="5974746"/>
        </p:xfrm>
        <a:graphic>
          <a:graphicData uri="http://schemas.openxmlformats.org/drawingml/2006/table">
            <a:tbl>
              <a:tblPr firstRow="1" bandRow="1">
                <a:tableStyleId>{BC89EF96-8CEA-46FF-86C4-4CE0E7609802}</a:tableStyleId>
              </a:tblPr>
              <a:tblGrid>
                <a:gridCol w="973602">
                  <a:extLst>
                    <a:ext uri="{9D8B030D-6E8A-4147-A177-3AD203B41FA5}">
                      <a16:colId xmlns:a16="http://schemas.microsoft.com/office/drawing/2014/main" val="20001"/>
                    </a:ext>
                  </a:extLst>
                </a:gridCol>
                <a:gridCol w="2034173">
                  <a:extLst>
                    <a:ext uri="{9D8B030D-6E8A-4147-A177-3AD203B41FA5}">
                      <a16:colId xmlns:a16="http://schemas.microsoft.com/office/drawing/2014/main" val="20002"/>
                    </a:ext>
                  </a:extLst>
                </a:gridCol>
                <a:gridCol w="2213710">
                  <a:extLst>
                    <a:ext uri="{9D8B030D-6E8A-4147-A177-3AD203B41FA5}">
                      <a16:colId xmlns:a16="http://schemas.microsoft.com/office/drawing/2014/main" val="20003"/>
                    </a:ext>
                  </a:extLst>
                </a:gridCol>
                <a:gridCol w="2625393">
                  <a:extLst>
                    <a:ext uri="{9D8B030D-6E8A-4147-A177-3AD203B41FA5}">
                      <a16:colId xmlns:a16="http://schemas.microsoft.com/office/drawing/2014/main" val="20004"/>
                    </a:ext>
                  </a:extLst>
                </a:gridCol>
                <a:gridCol w="2408169">
                  <a:extLst>
                    <a:ext uri="{9D8B030D-6E8A-4147-A177-3AD203B41FA5}">
                      <a16:colId xmlns:a16="http://schemas.microsoft.com/office/drawing/2014/main" val="1396003017"/>
                    </a:ext>
                  </a:extLst>
                </a:gridCol>
              </a:tblGrid>
              <a:tr h="415812">
                <a:tc>
                  <a:txBody>
                    <a:bodyPr/>
                    <a:lstStyle/>
                    <a:p>
                      <a:pPr>
                        <a:buNone/>
                      </a:pPr>
                      <a:r>
                        <a:rPr lang="en-IN" sz="1000" dirty="0"/>
                        <a:t>Year / Authors</a:t>
                      </a:r>
                    </a:p>
                  </a:txBody>
                  <a:tcPr anchor="ctr">
                    <a:solidFill>
                      <a:srgbClr val="FFFF00"/>
                    </a:solidFill>
                  </a:tcPr>
                </a:tc>
                <a:tc>
                  <a:txBody>
                    <a:bodyPr/>
                    <a:lstStyle/>
                    <a:p>
                      <a:pPr>
                        <a:buNone/>
                      </a:pPr>
                      <a:r>
                        <a:rPr lang="en-IN" sz="1000"/>
                        <a:t>Title of the Paper</a:t>
                      </a:r>
                    </a:p>
                  </a:txBody>
                  <a:tcPr anchor="ctr">
                    <a:solidFill>
                      <a:srgbClr val="FFFF00"/>
                    </a:solidFill>
                  </a:tcPr>
                </a:tc>
                <a:tc>
                  <a:txBody>
                    <a:bodyPr/>
                    <a:lstStyle/>
                    <a:p>
                      <a:pPr>
                        <a:buNone/>
                      </a:pPr>
                      <a:r>
                        <a:rPr lang="en-IN" sz="1000"/>
                        <a:t>Methodology</a:t>
                      </a:r>
                    </a:p>
                  </a:txBody>
                  <a:tcPr anchor="ctr">
                    <a:solidFill>
                      <a:srgbClr val="FFFF00"/>
                    </a:solidFill>
                  </a:tcPr>
                </a:tc>
                <a:tc>
                  <a:txBody>
                    <a:bodyPr/>
                    <a:lstStyle/>
                    <a:p>
                      <a:pPr>
                        <a:buNone/>
                      </a:pPr>
                      <a:r>
                        <a:rPr lang="en-IN" sz="1000"/>
                        <a:t>Inferences</a:t>
                      </a:r>
                    </a:p>
                  </a:txBody>
                  <a:tcPr anchor="ctr">
                    <a:solidFill>
                      <a:srgbClr val="FFFF00"/>
                    </a:solidFill>
                  </a:tcPr>
                </a:tc>
                <a:tc>
                  <a:txBody>
                    <a:bodyPr/>
                    <a:lstStyle/>
                    <a:p>
                      <a:pPr>
                        <a:buNone/>
                      </a:pPr>
                      <a:r>
                        <a:rPr lang="en-IN" sz="1000"/>
                        <a:t>Limitation / Future Work</a:t>
                      </a:r>
                    </a:p>
                  </a:txBody>
                  <a:tcPr anchor="ctr">
                    <a:solidFill>
                      <a:srgbClr val="FFFF00"/>
                    </a:solidFill>
                  </a:tcPr>
                </a:tc>
                <a:extLst>
                  <a:ext uri="{0D108BD9-81ED-4DB2-BD59-A6C34878D82A}">
                    <a16:rowId xmlns:a16="http://schemas.microsoft.com/office/drawing/2014/main" val="10000"/>
                  </a:ext>
                </a:extLst>
              </a:tr>
              <a:tr h="601374">
                <a:tc>
                  <a:txBody>
                    <a:bodyPr/>
                    <a:lstStyle/>
                    <a:p>
                      <a:pPr>
                        <a:buNone/>
                      </a:pPr>
                      <a:r>
                        <a:rPr lang="en-IN" sz="1000" b="1"/>
                        <a:t>2021 – Al-Amin et al. [1]</a:t>
                      </a:r>
                      <a:endParaRPr lang="en-IN" sz="1000"/>
                    </a:p>
                  </a:txBody>
                  <a:tcPr anchor="ctr"/>
                </a:tc>
                <a:tc>
                  <a:txBody>
                    <a:bodyPr/>
                    <a:lstStyle/>
                    <a:p>
                      <a:pPr>
                        <a:buNone/>
                      </a:pPr>
                      <a:r>
                        <a:rPr lang="en-IN" sz="1000" i="1"/>
                        <a:t>Customer Churn Prediction in Telecom Sector with Machine Learning and Information Gain Filter Feature Selection Algorithms</a:t>
                      </a:r>
                      <a:endParaRPr lang="en-IN" sz="1000"/>
                    </a:p>
                  </a:txBody>
                  <a:tcPr anchor="ctr"/>
                </a:tc>
                <a:tc>
                  <a:txBody>
                    <a:bodyPr/>
                    <a:lstStyle/>
                    <a:p>
                      <a:pPr>
                        <a:buNone/>
                      </a:pPr>
                      <a:r>
                        <a:rPr lang="en-IN" sz="1000"/>
                        <a:t>Used SVM, MLP, Random Forest and Naive Bayes with Information Gain and Ranker feature selection.</a:t>
                      </a:r>
                    </a:p>
                  </a:txBody>
                  <a:tcPr anchor="ctr"/>
                </a:tc>
                <a:tc>
                  <a:txBody>
                    <a:bodyPr/>
                    <a:lstStyle/>
                    <a:p>
                      <a:pPr>
                        <a:buNone/>
                      </a:pPr>
                      <a:r>
                        <a:rPr lang="en-IN" sz="1000"/>
                        <a:t>Feature selection improved churn prediction performance, achieving 95.02% accuracy.</a:t>
                      </a:r>
                    </a:p>
                  </a:txBody>
                  <a:tcPr anchor="ctr"/>
                </a:tc>
                <a:tc>
                  <a:txBody>
                    <a:bodyPr/>
                    <a:lstStyle/>
                    <a:p>
                      <a:pPr>
                        <a:buNone/>
                      </a:pPr>
                      <a:r>
                        <a:rPr lang="en-IN" sz="1000"/>
                        <a:t>Future work can explore advanced feature-selection and hybrid ML techniques. (</a:t>
                      </a:r>
                      <a:r>
                        <a:rPr lang="en-IN" sz="1000">
                          <a:hlinkClick r:id="rId3" tooltip="Customer Churn Prediction in Telecom Sector with Machine Learning and Information Gain Filter Feature Selection Algorithms | IEEE Conference Publication | IEEE Xplore"/>
                        </a:rPr>
                        <a:t>IEEE Xplore</a:t>
                      </a:r>
                      <a:r>
                        <a:rPr lang="en-IN" sz="1000"/>
                        <a:t>)</a:t>
                      </a:r>
                    </a:p>
                  </a:txBody>
                  <a:tcPr anchor="ctr"/>
                </a:tc>
                <a:extLst>
                  <a:ext uri="{0D108BD9-81ED-4DB2-BD59-A6C34878D82A}">
                    <a16:rowId xmlns:a16="http://schemas.microsoft.com/office/drawing/2014/main" val="2655426370"/>
                  </a:ext>
                </a:extLst>
              </a:tr>
              <a:tr h="1291205">
                <a:tc>
                  <a:txBody>
                    <a:bodyPr/>
                    <a:lstStyle/>
                    <a:p>
                      <a:pPr>
                        <a:buNone/>
                      </a:pPr>
                      <a:r>
                        <a:rPr lang="en-IN" sz="1000" b="1"/>
                        <a:t>2022 – Shrestha et al. [2]</a:t>
                      </a:r>
                      <a:endParaRPr lang="en-IN" sz="1000"/>
                    </a:p>
                  </a:txBody>
                  <a:tcPr anchor="ctr"/>
                </a:tc>
                <a:tc>
                  <a:txBody>
                    <a:bodyPr/>
                    <a:lstStyle/>
                    <a:p>
                      <a:pPr>
                        <a:buNone/>
                      </a:pPr>
                      <a:r>
                        <a:rPr lang="en-IN" sz="1000" i="1" dirty="0"/>
                        <a:t>A Customer Churn Prediction Model using </a:t>
                      </a:r>
                      <a:r>
                        <a:rPr lang="en-IN" sz="1000" i="1" dirty="0" err="1"/>
                        <a:t>XGBoost</a:t>
                      </a:r>
                      <a:r>
                        <a:rPr lang="en-IN" sz="1000" i="1" dirty="0"/>
                        <a:t> for the Telecommunication Industry in Nepal</a:t>
                      </a:r>
                      <a:endParaRPr lang="en-IN" sz="1000" dirty="0"/>
                    </a:p>
                  </a:txBody>
                  <a:tcPr anchor="ctr"/>
                </a:tc>
                <a:tc>
                  <a:txBody>
                    <a:bodyPr/>
                    <a:lstStyle/>
                    <a:p>
                      <a:pPr>
                        <a:buNone/>
                      </a:pPr>
                      <a:r>
                        <a:rPr lang="en-IN" sz="1000"/>
                        <a:t>Applied XGBoost to a large real-world telecom dataset and evaluated accuracy and F1-score.</a:t>
                      </a:r>
                    </a:p>
                  </a:txBody>
                  <a:tcPr anchor="ctr"/>
                </a:tc>
                <a:tc>
                  <a:txBody>
                    <a:bodyPr/>
                    <a:lstStyle/>
                    <a:p>
                      <a:pPr>
                        <a:buNone/>
                      </a:pPr>
                      <a:r>
                        <a:rPr lang="en-IN" sz="1000"/>
                        <a:t>XGBoost achieved strong churn prediction performance, including 97% accuracy on the native telecom dataset.</a:t>
                      </a:r>
                    </a:p>
                  </a:txBody>
                  <a:tcPr anchor="ctr"/>
                </a:tc>
                <a:tc>
                  <a:txBody>
                    <a:bodyPr/>
                    <a:lstStyle/>
                    <a:p>
                      <a:pPr>
                        <a:buNone/>
                      </a:pPr>
                      <a:r>
                        <a:rPr lang="en-IN" sz="1000"/>
                        <a:t>Future work can evaluate the approach on additional real-world telecom datasets and imbalance-handling methods. (</a:t>
                      </a:r>
                      <a:r>
                        <a:rPr lang="en-IN" sz="1000">
                          <a:hlinkClick r:id="rId4" tooltip="A Customer Churn Prediction Model using XGBoost for the Telecommunication Industry in Nepal - ScienceDirect"/>
                        </a:rPr>
                        <a:t>ScienceDirect</a:t>
                      </a:r>
                      <a:r>
                        <a:rPr lang="en-IN" sz="1000"/>
                        <a:t>)</a:t>
                      </a:r>
                    </a:p>
                  </a:txBody>
                  <a:tcPr anchor="ctr"/>
                </a:tc>
                <a:extLst>
                  <a:ext uri="{0D108BD9-81ED-4DB2-BD59-A6C34878D82A}">
                    <a16:rowId xmlns:a16="http://schemas.microsoft.com/office/drawing/2014/main" val="1760093660"/>
                  </a:ext>
                </a:extLst>
              </a:tr>
              <a:tr h="1306712">
                <a:tc>
                  <a:txBody>
                    <a:bodyPr/>
                    <a:lstStyle/>
                    <a:p>
                      <a:pPr>
                        <a:buNone/>
                      </a:pPr>
                      <a:r>
                        <a:rPr lang="en-IN" sz="1000" b="1"/>
                        <a:t>2023 – Zhou et al. [3]</a:t>
                      </a:r>
                      <a:endParaRPr lang="en-IN" sz="1000"/>
                    </a:p>
                  </a:txBody>
                  <a:tcPr anchor="ctr"/>
                </a:tc>
                <a:tc>
                  <a:txBody>
                    <a:bodyPr/>
                    <a:lstStyle/>
                    <a:p>
                      <a:pPr>
                        <a:buNone/>
                      </a:pPr>
                      <a:r>
                        <a:rPr lang="en-IN" sz="1000" i="1"/>
                        <a:t>Early Warning of Telecom Enterprise Customer Churn Based on Ensemble Learning</a:t>
                      </a:r>
                      <a:endParaRPr lang="en-IN" sz="1000"/>
                    </a:p>
                  </a:txBody>
                  <a:tcPr anchor="ctr"/>
                </a:tc>
                <a:tc>
                  <a:txBody>
                    <a:bodyPr/>
                    <a:lstStyle/>
                    <a:p>
                      <a:pPr>
                        <a:buNone/>
                      </a:pPr>
                      <a:r>
                        <a:rPr lang="en-IN" sz="1000"/>
                        <a:t>Developed an ensemble-learning approach using customer characteristics to provide early churn warnings.</a:t>
                      </a:r>
                    </a:p>
                  </a:txBody>
                  <a:tcPr anchor="ctr"/>
                </a:tc>
                <a:tc>
                  <a:txBody>
                    <a:bodyPr/>
                    <a:lstStyle/>
                    <a:p>
                      <a:pPr>
                        <a:buNone/>
                      </a:pPr>
                      <a:r>
                        <a:rPr lang="en-IN" sz="1000"/>
                        <a:t>Ensemble learning can identify potential churners early and support targeted customer-retention actions.</a:t>
                      </a:r>
                    </a:p>
                  </a:txBody>
                  <a:tcPr anchor="ctr"/>
                </a:tc>
                <a:tc>
                  <a:txBody>
                    <a:bodyPr/>
                    <a:lstStyle/>
                    <a:p>
                      <a:pPr>
                        <a:buNone/>
                      </a:pPr>
                      <a:r>
                        <a:rPr lang="en-IN" sz="1000"/>
                        <a:t>Future work can improve early-warning accuracy and incorporate additional customer behavioral information. (</a:t>
                      </a:r>
                      <a:r>
                        <a:rPr lang="en-IN" sz="1000">
                          <a:hlinkClick r:id="rId5" tooltip="Early warning of telecom enterprise customer churn based on ensemble learning | PLOS One"/>
                        </a:rPr>
                        <a:t>PLOS</a:t>
                      </a:r>
                      <a:r>
                        <a:rPr lang="en-IN" sz="1000"/>
                        <a:t>)</a:t>
                      </a:r>
                    </a:p>
                  </a:txBody>
                  <a:tcPr anchor="ctr"/>
                </a:tc>
                <a:extLst>
                  <a:ext uri="{0D108BD9-81ED-4DB2-BD59-A6C34878D82A}">
                    <a16:rowId xmlns:a16="http://schemas.microsoft.com/office/drawing/2014/main" val="549300374"/>
                  </a:ext>
                </a:extLst>
              </a:tr>
              <a:tr h="1101737">
                <a:tc>
                  <a:txBody>
                    <a:bodyPr/>
                    <a:lstStyle/>
                    <a:p>
                      <a:pPr>
                        <a:buNone/>
                      </a:pPr>
                      <a:r>
                        <a:rPr lang="en-IN" sz="1000" b="1"/>
                        <a:t>2024 – Sikri et al. [4]</a:t>
                      </a:r>
                      <a:endParaRPr lang="en-IN" sz="1000"/>
                    </a:p>
                  </a:txBody>
                  <a:tcPr anchor="ctr"/>
                </a:tc>
                <a:tc>
                  <a:txBody>
                    <a:bodyPr/>
                    <a:lstStyle/>
                    <a:p>
                      <a:pPr>
                        <a:buNone/>
                      </a:pPr>
                      <a:r>
                        <a:rPr lang="en-IN" sz="1000" i="1"/>
                        <a:t>Enhancing Customer Retention in Telecom Industry with Machine Learning Driven Churn Prediction</a:t>
                      </a:r>
                      <a:endParaRPr lang="en-IN" sz="1000"/>
                    </a:p>
                  </a:txBody>
                  <a:tcPr anchor="ctr"/>
                </a:tc>
                <a:tc>
                  <a:txBody>
                    <a:bodyPr/>
                    <a:lstStyle/>
                    <a:p>
                      <a:pPr>
                        <a:buNone/>
                      </a:pPr>
                      <a:r>
                        <a:rPr lang="en-IN" sz="1000"/>
                        <a:t>Used machine learning with data balancing, resampling and ensemble techniques for churn prediction.</a:t>
                      </a:r>
                    </a:p>
                  </a:txBody>
                  <a:tcPr anchor="ctr"/>
                </a:tc>
                <a:tc>
                  <a:txBody>
                    <a:bodyPr/>
                    <a:lstStyle/>
                    <a:p>
                      <a:pPr>
                        <a:buNone/>
                      </a:pPr>
                      <a:r>
                        <a:rPr lang="en-IN" sz="1000"/>
                        <a:t>Data balancing and ensemble learning can improve churn prediction and support customer-retention strategies.</a:t>
                      </a:r>
                    </a:p>
                  </a:txBody>
                  <a:tcPr anchor="ctr"/>
                </a:tc>
                <a:tc>
                  <a:txBody>
                    <a:bodyPr/>
                    <a:lstStyle/>
                    <a:p>
                      <a:pPr>
                        <a:buNone/>
                      </a:pPr>
                      <a:r>
                        <a:rPr lang="en-IN" sz="1000"/>
                        <a:t>Future work can investigate additional datasets, features and real-time deployment. (</a:t>
                      </a:r>
                      <a:r>
                        <a:rPr lang="en-IN" sz="1000">
                          <a:hlinkClick r:id="rId6" tooltip="Enhancing customer retention in telecom industry with machine learning driven churn prediction | Scientific Reports"/>
                        </a:rPr>
                        <a:t>Nature</a:t>
                      </a:r>
                      <a:r>
                        <a:rPr lang="en-IN" sz="1000"/>
                        <a:t>)</a:t>
                      </a:r>
                    </a:p>
                  </a:txBody>
                  <a:tcPr anchor="ctr"/>
                </a:tc>
                <a:extLst>
                  <a:ext uri="{0D108BD9-81ED-4DB2-BD59-A6C34878D82A}">
                    <a16:rowId xmlns:a16="http://schemas.microsoft.com/office/drawing/2014/main" val="751063839"/>
                  </a:ext>
                </a:extLst>
              </a:tr>
              <a:tr h="896763">
                <a:tc>
                  <a:txBody>
                    <a:bodyPr/>
                    <a:lstStyle/>
                    <a:p>
                      <a:pPr>
                        <a:buNone/>
                      </a:pPr>
                      <a:r>
                        <a:rPr lang="en-IN" sz="1000" b="1"/>
                        <a:t>2025 – Abdelhady &amp; Mohamed [5]</a:t>
                      </a:r>
                      <a:endParaRPr lang="en-IN" sz="1000"/>
                    </a:p>
                  </a:txBody>
                  <a:tcPr anchor="ctr"/>
                </a:tc>
                <a:tc>
                  <a:txBody>
                    <a:bodyPr/>
                    <a:lstStyle/>
                    <a:p>
                      <a:pPr>
                        <a:buNone/>
                      </a:pPr>
                      <a:r>
                        <a:rPr lang="en-IN" sz="1000" i="1"/>
                        <a:t>Leveraging Artificial Intelligence for Predictive Customer Churn Modeling in Telecommunications: A Framework for Enhanced Customer Relationship Management</a:t>
                      </a:r>
                      <a:endParaRPr lang="en-IN" sz="1000"/>
                    </a:p>
                  </a:txBody>
                  <a:tcPr anchor="ctr"/>
                </a:tc>
                <a:tc>
                  <a:txBody>
                    <a:bodyPr/>
                    <a:lstStyle/>
                    <a:p>
                      <a:pPr>
                        <a:buNone/>
                      </a:pPr>
                      <a:r>
                        <a:rPr lang="en-IN" sz="1000"/>
                        <a:t>Proposed an AI-driven churn prediction framework integrated with Customer Relationship Management (CRM).</a:t>
                      </a:r>
                    </a:p>
                  </a:txBody>
                  <a:tcPr anchor="ctr"/>
                </a:tc>
                <a:tc>
                  <a:txBody>
                    <a:bodyPr/>
                    <a:lstStyle/>
                    <a:p>
                      <a:pPr>
                        <a:buNone/>
                      </a:pPr>
                      <a:r>
                        <a:rPr lang="en-IN" sz="1000"/>
                        <a:t>AI-based predictive modeling can identify high-risk customers and support proactive retention.</a:t>
                      </a:r>
                    </a:p>
                  </a:txBody>
                  <a:tcPr anchor="ctr"/>
                </a:tc>
                <a:tc>
                  <a:txBody>
                    <a:bodyPr/>
                    <a:lstStyle/>
                    <a:p>
                      <a:pPr>
                        <a:buNone/>
                      </a:pPr>
                      <a:r>
                        <a:rPr lang="en-IN" sz="1000" dirty="0"/>
                        <a:t>Future work can focus on real-time CRM integration and validation across broader telecom datasets. (</a:t>
                      </a:r>
                      <a:r>
                        <a:rPr lang="en-IN" sz="1000" dirty="0">
                          <a:hlinkClick r:id="rId7" tooltip="Leveraging artificial intelligence for predictive customer churn modeling in telecommunications: a framework for enhanced customer relationship management | Scientific Reports"/>
                        </a:rPr>
                        <a:t>Nature</a:t>
                      </a:r>
                      <a:r>
                        <a:rPr lang="en-IN" sz="1000" dirty="0"/>
                        <a:t>)</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6" y="-133289"/>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dirty="0"/>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8"/>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871019" y="16476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1D44AD27-D761-A199-BC57-BDE78EE8DB96}"/>
              </a:ext>
            </a:extLst>
          </p:cNvPr>
          <p:cNvSpPr txBox="1"/>
          <p:nvPr/>
        </p:nvSpPr>
        <p:spPr>
          <a:xfrm>
            <a:off x="2595716" y="811099"/>
            <a:ext cx="6096000" cy="5632311"/>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businesses </a:t>
            </a:r>
            <a:r>
              <a:rPr lang="en-IN" b="1" dirty="0">
                <a:latin typeface="Times New Roman" panose="02020603050405020304" pitchFamily="18" charset="0"/>
                <a:cs typeface="Times New Roman" panose="02020603050405020304" pitchFamily="18" charset="0"/>
              </a:rPr>
              <a:t>identify customer churn only after customers have already left</a:t>
            </a:r>
            <a:r>
              <a:rPr lang="en-IN" dirty="0">
                <a:latin typeface="Times New Roman" panose="02020603050405020304" pitchFamily="18" charset="0"/>
                <a:cs typeface="Times New Roman" panose="02020603050405020304" pitchFamily="18" charset="0"/>
              </a:rPr>
              <a:t>, making retention difficult.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methods often focus on </a:t>
            </a:r>
            <a:r>
              <a:rPr lang="en-IN" b="1" dirty="0">
                <a:latin typeface="Times New Roman" panose="02020603050405020304" pitchFamily="18" charset="0"/>
                <a:cs typeface="Times New Roman" panose="02020603050405020304" pitchFamily="18" charset="0"/>
              </a:rPr>
              <a:t>basic customer analysis</a:t>
            </a:r>
            <a:r>
              <a:rPr lang="en-IN" dirty="0">
                <a:latin typeface="Times New Roman" panose="02020603050405020304" pitchFamily="18" charset="0"/>
                <a:cs typeface="Times New Roman" panose="02020603050405020304" pitchFamily="18" charset="0"/>
              </a:rPr>
              <a:t> without accurately predicting which customers are likely to churn.</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There is a lack of </a:t>
            </a:r>
            <a:r>
              <a:rPr lang="en-IN" b="1" dirty="0">
                <a:latin typeface="Times New Roman" panose="02020603050405020304" pitchFamily="18" charset="0"/>
                <a:cs typeface="Times New Roman" panose="02020603050405020304" pitchFamily="18" charset="0"/>
              </a:rPr>
              <a:t>early identification of high-risk customers</a:t>
            </a:r>
            <a:r>
              <a:rPr lang="en-IN" dirty="0">
                <a:latin typeface="Times New Roman" panose="02020603050405020304" pitchFamily="18" charset="0"/>
                <a:cs typeface="Times New Roman" panose="02020603050405020304" pitchFamily="18" charset="0"/>
              </a:rPr>
              <a:t> who need immediate attention.</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Customer data is often available in large amounts, but it is </a:t>
            </a:r>
            <a:r>
              <a:rPr lang="en-IN" b="1" dirty="0">
                <a:latin typeface="Times New Roman" panose="02020603050405020304" pitchFamily="18" charset="0"/>
                <a:cs typeface="Times New Roman" panose="02020603050405020304" pitchFamily="18" charset="0"/>
              </a:rPr>
              <a:t>not effectively used to discover the factors responsible for churn</a:t>
            </a:r>
            <a:r>
              <a:rPr lang="en-IN"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Different Machine Learning models may provide different prediction performances, but </a:t>
            </a:r>
            <a:r>
              <a:rPr lang="en-IN" b="1" dirty="0">
                <a:latin typeface="Times New Roman" panose="02020603050405020304" pitchFamily="18" charset="0"/>
                <a:cs typeface="Times New Roman" panose="02020603050405020304" pitchFamily="18" charset="0"/>
              </a:rPr>
              <a:t>model comparison is often limited</a:t>
            </a:r>
            <a:r>
              <a:rPr lang="en-IN"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Businesses need not only churn predictions but also </a:t>
            </a:r>
            <a:r>
              <a:rPr lang="en-IN" b="1" dirty="0">
                <a:latin typeface="Times New Roman" panose="02020603050405020304" pitchFamily="18" charset="0"/>
                <a:cs typeface="Times New Roman" panose="02020603050405020304" pitchFamily="18" charset="0"/>
              </a:rPr>
              <a:t>clear insights and actionable recommendations</a:t>
            </a:r>
            <a:r>
              <a:rPr lang="en-IN" dirty="0">
                <a:latin typeface="Times New Roman" panose="02020603050405020304" pitchFamily="18" charset="0"/>
                <a:cs typeface="Times New Roman" panose="02020603050405020304" pitchFamily="18" charset="0"/>
              </a:rPr>
              <a:t> to improve customer retention.</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Therefore, there is a need for an </a:t>
            </a:r>
            <a:r>
              <a:rPr lang="en-IN" b="1" dirty="0">
                <a:latin typeface="Times New Roman" panose="02020603050405020304" pitchFamily="18" charset="0"/>
                <a:cs typeface="Times New Roman" panose="02020603050405020304" pitchFamily="18" charset="0"/>
              </a:rPr>
              <a:t>integrated ML-based system that predicts churn, identifies important churn factors, analyzes customer risk, and supports better retention decisions</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372814"/>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6" name="Picture 5">
            <a:extLst>
              <a:ext uri="{FF2B5EF4-FFF2-40B4-BE49-F238E27FC236}">
                <a16:creationId xmlns:a16="http://schemas.microsoft.com/office/drawing/2014/main" id="{6DEFE8F7-5550-8F94-7A16-9954455BB78C}"/>
              </a:ext>
            </a:extLst>
          </p:cNvPr>
          <p:cNvPicPr>
            <a:picLocks noChangeAspect="1"/>
          </p:cNvPicPr>
          <p:nvPr/>
        </p:nvPicPr>
        <p:blipFill>
          <a:blip r:embed="rId3"/>
          <a:stretch>
            <a:fillRect/>
          </a:stretch>
        </p:blipFill>
        <p:spPr>
          <a:xfrm>
            <a:off x="952500" y="0"/>
            <a:ext cx="10287000" cy="6858000"/>
          </a:xfrm>
          <a:prstGeom prst="rect">
            <a:avLst/>
          </a:prstGeom>
        </p:spPr>
      </p:pic>
      <p:pic>
        <p:nvPicPr>
          <p:cNvPr id="8" name="Picture 7">
            <a:extLst>
              <a:ext uri="{FF2B5EF4-FFF2-40B4-BE49-F238E27FC236}">
                <a16:creationId xmlns:a16="http://schemas.microsoft.com/office/drawing/2014/main" id="{7A662E3E-3B0D-AB1B-23AA-55F05664BA81}"/>
              </a:ext>
            </a:extLst>
          </p:cNvPr>
          <p:cNvPicPr>
            <a:picLocks noChangeAspect="1"/>
          </p:cNvPicPr>
          <p:nvPr/>
        </p:nvPicPr>
        <p:blipFill>
          <a:blip r:embed="rId3"/>
          <a:stretch>
            <a:fillRect/>
          </a:stretch>
        </p:blipFill>
        <p:spPr>
          <a:xfrm>
            <a:off x="952500" y="0"/>
            <a:ext cx="10287000" cy="6858000"/>
          </a:xfrm>
          <a:prstGeom prst="rect">
            <a:avLst/>
          </a:prstGeom>
        </p:spPr>
      </p:pic>
    </p:spTree>
    <p:extLst>
      <p:ext uri="{BB962C8B-B14F-4D97-AF65-F5344CB8AC3E}">
        <p14:creationId xmlns:p14="http://schemas.microsoft.com/office/powerpoint/2010/main" val="411885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1271522-7576-31FD-A3E6-B35042E9E5D1}"/>
              </a:ext>
            </a:extLst>
          </p:cNvPr>
          <p:cNvSpPr txBox="1"/>
          <p:nvPr/>
        </p:nvSpPr>
        <p:spPr>
          <a:xfrm>
            <a:off x="1573160" y="1091381"/>
            <a:ext cx="3932905"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TimeLine Chart</a:t>
            </a:r>
          </a:p>
        </p:txBody>
      </p:sp>
      <p:graphicFrame>
        <p:nvGraphicFramePr>
          <p:cNvPr id="5" name="Content Placeholder 4">
            <a:extLst>
              <a:ext uri="{FF2B5EF4-FFF2-40B4-BE49-F238E27FC236}">
                <a16:creationId xmlns:a16="http://schemas.microsoft.com/office/drawing/2014/main" id="{8AFF3C49-8065-4654-50F1-C1AB461EF0F2}"/>
              </a:ext>
            </a:extLst>
          </p:cNvPr>
          <p:cNvGraphicFramePr>
            <a:graphicFrameLocks noGrp="1"/>
          </p:cNvGraphicFramePr>
          <p:nvPr>
            <p:ph idx="1"/>
          </p:nvPr>
        </p:nvGraphicFramePr>
        <p:xfrm>
          <a:off x="3462296" y="1825625"/>
          <a:ext cx="5267408" cy="4351338"/>
        </p:xfrm>
        <a:graphic>
          <a:graphicData uri="http://schemas.openxmlformats.org/drawingml/2006/table">
            <a:tbl>
              <a:tblPr>
                <a:tableStyleId>{5C22544A-7EE6-4342-B048-85BDC9FD1C3A}</a:tableStyleId>
              </a:tblPr>
              <a:tblGrid>
                <a:gridCol w="658426">
                  <a:extLst>
                    <a:ext uri="{9D8B030D-6E8A-4147-A177-3AD203B41FA5}">
                      <a16:colId xmlns:a16="http://schemas.microsoft.com/office/drawing/2014/main" val="1035902868"/>
                    </a:ext>
                  </a:extLst>
                </a:gridCol>
                <a:gridCol w="658426">
                  <a:extLst>
                    <a:ext uri="{9D8B030D-6E8A-4147-A177-3AD203B41FA5}">
                      <a16:colId xmlns:a16="http://schemas.microsoft.com/office/drawing/2014/main" val="2169233240"/>
                    </a:ext>
                  </a:extLst>
                </a:gridCol>
                <a:gridCol w="658426">
                  <a:extLst>
                    <a:ext uri="{9D8B030D-6E8A-4147-A177-3AD203B41FA5}">
                      <a16:colId xmlns:a16="http://schemas.microsoft.com/office/drawing/2014/main" val="2238689187"/>
                    </a:ext>
                  </a:extLst>
                </a:gridCol>
                <a:gridCol w="658426">
                  <a:extLst>
                    <a:ext uri="{9D8B030D-6E8A-4147-A177-3AD203B41FA5}">
                      <a16:colId xmlns:a16="http://schemas.microsoft.com/office/drawing/2014/main" val="919212828"/>
                    </a:ext>
                  </a:extLst>
                </a:gridCol>
                <a:gridCol w="658426">
                  <a:extLst>
                    <a:ext uri="{9D8B030D-6E8A-4147-A177-3AD203B41FA5}">
                      <a16:colId xmlns:a16="http://schemas.microsoft.com/office/drawing/2014/main" val="3002302988"/>
                    </a:ext>
                  </a:extLst>
                </a:gridCol>
                <a:gridCol w="658426">
                  <a:extLst>
                    <a:ext uri="{9D8B030D-6E8A-4147-A177-3AD203B41FA5}">
                      <a16:colId xmlns:a16="http://schemas.microsoft.com/office/drawing/2014/main" val="542067829"/>
                    </a:ext>
                  </a:extLst>
                </a:gridCol>
                <a:gridCol w="658426">
                  <a:extLst>
                    <a:ext uri="{9D8B030D-6E8A-4147-A177-3AD203B41FA5}">
                      <a16:colId xmlns:a16="http://schemas.microsoft.com/office/drawing/2014/main" val="3742040394"/>
                    </a:ext>
                  </a:extLst>
                </a:gridCol>
                <a:gridCol w="658426">
                  <a:extLst>
                    <a:ext uri="{9D8B030D-6E8A-4147-A177-3AD203B41FA5}">
                      <a16:colId xmlns:a16="http://schemas.microsoft.com/office/drawing/2014/main" val="1495251479"/>
                    </a:ext>
                  </a:extLst>
                </a:gridCol>
              </a:tblGrid>
              <a:tr h="183214">
                <a:tc>
                  <a:txBody>
                    <a:bodyPr/>
                    <a:lstStyle/>
                    <a:p>
                      <a:pPr>
                        <a:buNone/>
                      </a:pPr>
                      <a:r>
                        <a:rPr lang="en-IN" sz="900"/>
                        <a:t>Phase</a:t>
                      </a:r>
                    </a:p>
                  </a:txBody>
                  <a:tcPr marL="45804" marR="45804" marT="22902" marB="22902" anchor="ctr"/>
                </a:tc>
                <a:tc>
                  <a:txBody>
                    <a:bodyPr/>
                    <a:lstStyle/>
                    <a:p>
                      <a:pPr algn="ctr">
                        <a:buNone/>
                      </a:pPr>
                      <a:r>
                        <a:rPr lang="en-IN" sz="900"/>
                        <a:t>W1</a:t>
                      </a:r>
                    </a:p>
                  </a:txBody>
                  <a:tcPr marL="45804" marR="45804" marT="22902" marB="22902" anchor="ctr"/>
                </a:tc>
                <a:tc>
                  <a:txBody>
                    <a:bodyPr/>
                    <a:lstStyle/>
                    <a:p>
                      <a:pPr algn="ctr">
                        <a:buNone/>
                      </a:pPr>
                      <a:r>
                        <a:rPr lang="en-IN" sz="900"/>
                        <a:t>W2</a:t>
                      </a:r>
                    </a:p>
                  </a:txBody>
                  <a:tcPr marL="45804" marR="45804" marT="22902" marB="22902" anchor="ctr"/>
                </a:tc>
                <a:tc>
                  <a:txBody>
                    <a:bodyPr/>
                    <a:lstStyle/>
                    <a:p>
                      <a:pPr algn="ctr">
                        <a:buNone/>
                      </a:pPr>
                      <a:r>
                        <a:rPr lang="en-IN" sz="900"/>
                        <a:t>W3</a:t>
                      </a:r>
                    </a:p>
                  </a:txBody>
                  <a:tcPr marL="45804" marR="45804" marT="22902" marB="22902" anchor="ctr"/>
                </a:tc>
                <a:tc>
                  <a:txBody>
                    <a:bodyPr/>
                    <a:lstStyle/>
                    <a:p>
                      <a:pPr algn="ctr">
                        <a:buNone/>
                      </a:pPr>
                      <a:r>
                        <a:rPr lang="en-IN" sz="900"/>
                        <a:t>W4</a:t>
                      </a:r>
                    </a:p>
                  </a:txBody>
                  <a:tcPr marL="45804" marR="45804" marT="22902" marB="22902" anchor="ctr"/>
                </a:tc>
                <a:tc>
                  <a:txBody>
                    <a:bodyPr/>
                    <a:lstStyle/>
                    <a:p>
                      <a:pPr algn="ctr">
                        <a:buNone/>
                      </a:pPr>
                      <a:r>
                        <a:rPr lang="en-IN" sz="900"/>
                        <a:t>W5</a:t>
                      </a:r>
                    </a:p>
                  </a:txBody>
                  <a:tcPr marL="45804" marR="45804" marT="22902" marB="22902" anchor="ctr"/>
                </a:tc>
                <a:tc>
                  <a:txBody>
                    <a:bodyPr/>
                    <a:lstStyle/>
                    <a:p>
                      <a:pPr algn="ctr">
                        <a:buNone/>
                      </a:pPr>
                      <a:r>
                        <a:rPr lang="en-IN" sz="900"/>
                        <a:t>W6</a:t>
                      </a:r>
                    </a:p>
                  </a:txBody>
                  <a:tcPr marL="45804" marR="45804" marT="22902" marB="22902" anchor="ctr"/>
                </a:tc>
                <a:tc>
                  <a:txBody>
                    <a:bodyPr/>
                    <a:lstStyle/>
                    <a:p>
                      <a:pPr algn="ctr">
                        <a:buNone/>
                      </a:pPr>
                      <a:r>
                        <a:rPr lang="en-IN" sz="900"/>
                        <a:t>W7</a:t>
                      </a:r>
                    </a:p>
                  </a:txBody>
                  <a:tcPr marL="45804" marR="45804" marT="22902" marB="22902" anchor="ctr"/>
                </a:tc>
                <a:extLst>
                  <a:ext uri="{0D108BD9-81ED-4DB2-BD59-A6C34878D82A}">
                    <a16:rowId xmlns:a16="http://schemas.microsoft.com/office/drawing/2014/main" val="991053976"/>
                  </a:ext>
                </a:extLst>
              </a:tr>
              <a:tr h="870268">
                <a:tc>
                  <a:txBody>
                    <a:bodyPr/>
                    <a:lstStyle/>
                    <a:p>
                      <a:pPr>
                        <a:buNone/>
                      </a:pPr>
                      <a:r>
                        <a:rPr lang="en-IN" sz="900"/>
                        <a:t>01. Problem Identification &amp; Requirements</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3151988176"/>
                  </a:ext>
                </a:extLst>
              </a:tr>
              <a:tr h="320625">
                <a:tc>
                  <a:txBody>
                    <a:bodyPr/>
                    <a:lstStyle/>
                    <a:p>
                      <a:pPr>
                        <a:buNone/>
                      </a:pPr>
                      <a:r>
                        <a:rPr lang="en-IN" sz="900"/>
                        <a:t>02. Data Collection</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endParaRPr lang="en-IN" sz="900" dirty="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3172688784"/>
                  </a:ext>
                </a:extLst>
              </a:tr>
              <a:tr h="458036">
                <a:tc>
                  <a:txBody>
                    <a:bodyPr/>
                    <a:lstStyle/>
                    <a:p>
                      <a:pPr>
                        <a:buNone/>
                      </a:pPr>
                      <a:r>
                        <a:rPr lang="en-IN" sz="900"/>
                        <a:t>03. Data Preprocessing &amp; EDA</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dirty="0"/>
                        <a:t>■</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1914982866"/>
                  </a:ext>
                </a:extLst>
              </a:tr>
              <a:tr h="595446">
                <a:tc>
                  <a:txBody>
                    <a:bodyPr/>
                    <a:lstStyle/>
                    <a:p>
                      <a:pPr>
                        <a:buNone/>
                      </a:pPr>
                      <a:r>
                        <a:rPr lang="en-IN" sz="900"/>
                        <a:t>04. Feature Engineering</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3821421833"/>
                  </a:ext>
                </a:extLst>
              </a:tr>
              <a:tr h="595446">
                <a:tc>
                  <a:txBody>
                    <a:bodyPr/>
                    <a:lstStyle/>
                    <a:p>
                      <a:pPr>
                        <a:buNone/>
                      </a:pPr>
                      <a:r>
                        <a:rPr lang="en-IN" sz="900"/>
                        <a:t>05. ML Model Development</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646985905"/>
                  </a:ext>
                </a:extLst>
              </a:tr>
              <a:tr h="595446">
                <a:tc>
                  <a:txBody>
                    <a:bodyPr/>
                    <a:lstStyle/>
                    <a:p>
                      <a:pPr>
                        <a:buNone/>
                      </a:pPr>
                      <a:r>
                        <a:rPr lang="en-IN" sz="900"/>
                        <a:t>06. Model Evaluation &amp; Analytics</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endParaRPr lang="en-IN" sz="900"/>
                    </a:p>
                  </a:txBody>
                  <a:tcPr marL="45804" marR="45804" marT="22902" marB="22902" anchor="ctr"/>
                </a:tc>
                <a:extLst>
                  <a:ext uri="{0D108BD9-81ED-4DB2-BD59-A6C34878D82A}">
                    <a16:rowId xmlns:a16="http://schemas.microsoft.com/office/drawing/2014/main" val="243790820"/>
                  </a:ext>
                </a:extLst>
              </a:tr>
              <a:tr h="732857">
                <a:tc>
                  <a:txBody>
                    <a:bodyPr/>
                    <a:lstStyle/>
                    <a:p>
                      <a:pPr>
                        <a:buNone/>
                      </a:pPr>
                      <a:r>
                        <a:rPr lang="en-IN" sz="900"/>
                        <a:t>07. Finalization &amp; Documentation</a:t>
                      </a:r>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endParaRPr lang="en-IN" sz="900"/>
                    </a:p>
                  </a:txBody>
                  <a:tcPr marL="45804" marR="45804" marT="22902" marB="22902" anchor="ctr"/>
                </a:tc>
                <a:tc>
                  <a:txBody>
                    <a:bodyPr/>
                    <a:lstStyle/>
                    <a:p>
                      <a:pPr algn="ctr">
                        <a:buNone/>
                      </a:pPr>
                      <a:r>
                        <a:rPr lang="en-IN" sz="900"/>
                        <a:t>■</a:t>
                      </a:r>
                    </a:p>
                  </a:txBody>
                  <a:tcPr marL="45804" marR="45804" marT="22902" marB="22902" anchor="ctr"/>
                </a:tc>
                <a:tc>
                  <a:txBody>
                    <a:bodyPr/>
                    <a:lstStyle/>
                    <a:p>
                      <a:pPr algn="ctr">
                        <a:buNone/>
                      </a:pPr>
                      <a:r>
                        <a:rPr lang="en-IN" sz="900" dirty="0"/>
                        <a:t>■</a:t>
                      </a:r>
                    </a:p>
                  </a:txBody>
                  <a:tcPr marL="45804" marR="45804" marT="22902" marB="22902" anchor="ctr"/>
                </a:tc>
                <a:extLst>
                  <a:ext uri="{0D108BD9-81ED-4DB2-BD59-A6C34878D82A}">
                    <a16:rowId xmlns:a16="http://schemas.microsoft.com/office/drawing/2014/main" val="1896227659"/>
                  </a:ext>
                </a:extLst>
              </a:tr>
            </a:tbl>
          </a:graphicData>
        </a:graphic>
      </p:graphicFrame>
    </p:spTree>
    <p:extLst>
      <p:ext uri="{BB962C8B-B14F-4D97-AF65-F5344CB8AC3E}">
        <p14:creationId xmlns:p14="http://schemas.microsoft.com/office/powerpoint/2010/main" val="369322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7E07A-E3FE-33D2-64D3-3D49AE1D76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8DAEB9-966E-A877-C9D4-299845A2290D}"/>
              </a:ext>
            </a:extLst>
          </p:cNvPr>
          <p:cNvSpPr txBox="1"/>
          <p:nvPr/>
        </p:nvSpPr>
        <p:spPr>
          <a:xfrm>
            <a:off x="1893059" y="140755"/>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6A48AF5D-7208-FB10-5F0E-D51C81529D46}"/>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FEA41A50-F6C8-49DF-98DD-03AA8A03B685}"/>
              </a:ext>
            </a:extLst>
          </p:cNvPr>
          <p:cNvSpPr txBox="1"/>
          <p:nvPr/>
        </p:nvSpPr>
        <p:spPr>
          <a:xfrm>
            <a:off x="-3" y="667844"/>
            <a:ext cx="6096000" cy="2818079"/>
          </a:xfrm>
          <a:prstGeom prst="rect">
            <a:avLst/>
          </a:prstGeom>
          <a:noFill/>
        </p:spPr>
        <p:txBody>
          <a:bodyPr wrap="square">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Innovation</a:t>
            </a:r>
            <a:endParaRPr lang="en-IN" sz="1600" b="1"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Predictive Churn Monitoring:</a:t>
            </a:r>
            <a:r>
              <a:rPr lang="en-IN" sz="1600" dirty="0">
                <a:latin typeface="Times New Roman" panose="02020603050405020304" pitchFamily="18" charset="0"/>
                <a:cs typeface="Times New Roman" panose="02020603050405020304" pitchFamily="18" charset="0"/>
              </a:rPr>
              <a:t> Identifies customers who may churn before they actually leave.</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Dynamic Risk Scoring:</a:t>
            </a:r>
            <a:r>
              <a:rPr lang="en-IN" sz="1600" dirty="0">
                <a:latin typeface="Times New Roman" panose="02020603050405020304" pitchFamily="18" charset="0"/>
                <a:cs typeface="Times New Roman" panose="02020603050405020304" pitchFamily="18" charset="0"/>
              </a:rPr>
              <a:t> Assigns each customer a churn probability instead of giving only a Yes/No result.</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Data-Driven Retention:</a:t>
            </a:r>
            <a:r>
              <a:rPr lang="en-IN" sz="1600" dirty="0">
                <a:latin typeface="Times New Roman" panose="02020603050405020304" pitchFamily="18" charset="0"/>
                <a:cs typeface="Times New Roman" panose="02020603050405020304" pitchFamily="18" charset="0"/>
              </a:rPr>
              <a:t> Uses customer data to support proactive retention decisions.</a:t>
            </a:r>
          </a:p>
        </p:txBody>
      </p:sp>
      <p:sp>
        <p:nvSpPr>
          <p:cNvPr id="9" name="TextBox 8">
            <a:extLst>
              <a:ext uri="{FF2B5EF4-FFF2-40B4-BE49-F238E27FC236}">
                <a16:creationId xmlns:a16="http://schemas.microsoft.com/office/drawing/2014/main" id="{54FCDC9C-7263-27F1-3CD8-69636A8AF750}"/>
              </a:ext>
            </a:extLst>
          </p:cNvPr>
          <p:cNvSpPr txBox="1"/>
          <p:nvPr/>
        </p:nvSpPr>
        <p:spPr>
          <a:xfrm>
            <a:off x="6233652" y="1312125"/>
            <a:ext cx="6096000" cy="2818079"/>
          </a:xfrm>
          <a:prstGeom prst="rect">
            <a:avLst/>
          </a:prstGeom>
          <a:noFill/>
        </p:spPr>
        <p:txBody>
          <a:bodyPr wrap="square">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Creativity</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Customer Risk Visualization:</a:t>
            </a:r>
            <a:r>
              <a:rPr lang="en-IN" sz="1600" dirty="0">
                <a:latin typeface="Times New Roman" panose="02020603050405020304" pitchFamily="18" charset="0"/>
                <a:cs typeface="Times New Roman" panose="02020603050405020304" pitchFamily="18" charset="0"/>
              </a:rPr>
              <a:t> Uses charts and visual indicators to make high-risk customers easy to identify.</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Customer Segmentation:</a:t>
            </a:r>
            <a:r>
              <a:rPr lang="en-IN" sz="1600" dirty="0">
                <a:latin typeface="Times New Roman" panose="02020603050405020304" pitchFamily="18" charset="0"/>
                <a:cs typeface="Times New Roman" panose="02020603050405020304" pitchFamily="18" charset="0"/>
              </a:rPr>
              <a:t> Groups customers based on their behavior, characteristics, and churn risk.</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Personalized Retention Strategies:</a:t>
            </a:r>
            <a:r>
              <a:rPr lang="en-IN" sz="1600" dirty="0">
                <a:latin typeface="Times New Roman" panose="02020603050405020304" pitchFamily="18" charset="0"/>
                <a:cs typeface="Times New Roman" panose="02020603050405020304" pitchFamily="18" charset="0"/>
              </a:rPr>
              <a:t> Suggests different actions for different types of at-risk customers.</a:t>
            </a:r>
          </a:p>
        </p:txBody>
      </p:sp>
      <p:sp>
        <p:nvSpPr>
          <p:cNvPr id="11" name="TextBox 10">
            <a:extLst>
              <a:ext uri="{FF2B5EF4-FFF2-40B4-BE49-F238E27FC236}">
                <a16:creationId xmlns:a16="http://schemas.microsoft.com/office/drawing/2014/main" id="{81337AE2-3DB8-77AD-856C-59722D12B7D6}"/>
              </a:ext>
            </a:extLst>
          </p:cNvPr>
          <p:cNvSpPr txBox="1"/>
          <p:nvPr/>
        </p:nvSpPr>
        <p:spPr>
          <a:xfrm>
            <a:off x="1612491" y="3233892"/>
            <a:ext cx="6096000" cy="3649076"/>
          </a:xfrm>
          <a:prstGeom prst="rect">
            <a:avLst/>
          </a:prstGeom>
          <a:noFill/>
        </p:spPr>
        <p:txBody>
          <a:bodyPr wrap="square">
            <a:spAutoFit/>
          </a:bodyPr>
          <a:lstStyle/>
          <a:p>
            <a:pPr>
              <a:lnSpc>
                <a:spcPct val="150000"/>
              </a:lnSpc>
              <a:buNone/>
            </a:pPr>
            <a:r>
              <a:rPr lang="en-IN" sz="2800" b="1" dirty="0">
                <a:latin typeface="Times New Roman" panose="02020603050405020304" pitchFamily="18" charset="0"/>
                <a:cs typeface="Times New Roman" panose="02020603050405020304" pitchFamily="18" charset="0"/>
              </a:rPr>
              <a:t>Novelty</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Predict–Explain–Act Approach:</a:t>
            </a:r>
            <a:r>
              <a:rPr lang="en-IN" sz="1600" dirty="0">
                <a:latin typeface="Times New Roman" panose="02020603050405020304" pitchFamily="18" charset="0"/>
                <a:cs typeface="Times New Roman" panose="02020603050405020304" pitchFamily="18" charset="0"/>
              </a:rPr>
              <a:t> Combines churn prediction, explanation of the reason, and recommended action in one system.</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Customer-Specific Churn Explanation:</a:t>
            </a:r>
            <a:r>
              <a:rPr lang="en-IN" sz="1600" dirty="0">
                <a:latin typeface="Times New Roman" panose="02020603050405020304" pitchFamily="18" charset="0"/>
                <a:cs typeface="Times New Roman" panose="02020603050405020304" pitchFamily="18" charset="0"/>
              </a:rPr>
              <a:t> Shows the major factors contributing to an individual customer's churn risk.</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Priority-Based Retention:</a:t>
            </a:r>
            <a:r>
              <a:rPr lang="en-IN" sz="1600" dirty="0">
                <a:latin typeface="Times New Roman" panose="02020603050405020304" pitchFamily="18" charset="0"/>
                <a:cs typeface="Times New Roman" panose="02020603050405020304" pitchFamily="18" charset="0"/>
              </a:rPr>
              <a:t> Helps businesses prioritize customers by considering both churn risk and customer value.</a:t>
            </a:r>
          </a:p>
          <a:p>
            <a:pPr marL="342900" lvl="0" indent="-34290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What-If Analysis:</a:t>
            </a:r>
            <a:r>
              <a:rPr lang="en-IN" sz="1600" dirty="0">
                <a:latin typeface="Times New Roman" panose="02020603050405020304" pitchFamily="18" charset="0"/>
                <a:cs typeface="Times New Roman" panose="02020603050405020304" pitchFamily="18" charset="0"/>
              </a:rPr>
              <a:t> Allows businesses to examine how changes in customer factors could affect predicted churn risk.</a:t>
            </a:r>
          </a:p>
        </p:txBody>
      </p:sp>
    </p:spTree>
    <p:extLst>
      <p:ext uri="{BB962C8B-B14F-4D97-AF65-F5344CB8AC3E}">
        <p14:creationId xmlns:p14="http://schemas.microsoft.com/office/powerpoint/2010/main" val="3034119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1115</Words>
  <Application>Microsoft Office PowerPoint</Application>
  <PresentationFormat>Widescreen</PresentationFormat>
  <Paragraphs>144</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NANDINI TANNERU</cp:lastModifiedBy>
  <cp:revision>34</cp:revision>
  <dcterms:created xsi:type="dcterms:W3CDTF">2026-08-08T06:33:56Z</dcterms:created>
  <dcterms:modified xsi:type="dcterms:W3CDTF">2026-10-01T05:19:59Z</dcterms:modified>
</cp:coreProperties>
</file>